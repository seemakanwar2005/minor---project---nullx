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497" r:id="rId3"/>
    <p:sldId id="499" r:id="rId4"/>
    <p:sldId id="500" r:id="rId5"/>
    <p:sldId id="501" r:id="rId6"/>
    <p:sldId id="502" r:id="rId7"/>
    <p:sldId id="503" r:id="rId8"/>
    <p:sldId id="504" r:id="rId9"/>
    <p:sldId id="505" r:id="rId10"/>
    <p:sldId id="506" r:id="rId11"/>
    <p:sldId id="507" r:id="rId12"/>
    <p:sldId id="269" r:id="rId13"/>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37" autoAdjust="0"/>
    <p:restoredTop sz="94660"/>
  </p:normalViewPr>
  <p:slideViewPr>
    <p:cSldViewPr>
      <p:cViewPr varScale="1">
        <p:scale>
          <a:sx n="78" d="100"/>
          <a:sy n="78" d="100"/>
        </p:scale>
        <p:origin x="1099"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Shekhawat" userId="608c5b96d67386a7" providerId="LiveId" clId="{1FC9DCDC-5DA8-4B76-95CA-316971B9AD70}"/>
    <pc:docChg chg="modSld">
      <pc:chgData name="Seema Shekhawat" userId="608c5b96d67386a7" providerId="LiveId" clId="{1FC9DCDC-5DA8-4B76-95CA-316971B9AD70}" dt="2026-01-31T06:21:29.272" v="123" actId="20577"/>
      <pc:docMkLst>
        <pc:docMk/>
      </pc:docMkLst>
      <pc:sldChg chg="modSp mod">
        <pc:chgData name="Seema Shekhawat" userId="608c5b96d67386a7" providerId="LiveId" clId="{1FC9DCDC-5DA8-4B76-95CA-316971B9AD70}" dt="2026-01-31T06:21:29.272" v="123" actId="20577"/>
        <pc:sldMkLst>
          <pc:docMk/>
          <pc:sldMk cId="4142536426" sldId="497"/>
        </pc:sldMkLst>
        <pc:spChg chg="mod">
          <ac:chgData name="Seema Shekhawat" userId="608c5b96d67386a7" providerId="LiveId" clId="{1FC9DCDC-5DA8-4B76-95CA-316971B9AD70}" dt="2026-01-31T06:21:29.272" v="123" actId="20577"/>
          <ac:spMkLst>
            <pc:docMk/>
            <pc:sldMk cId="4142536426" sldId="497"/>
            <ac:spMk id="8" creationId="{40D4C745-33B7-0116-E20F-11A7F0DFD46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31-01-2026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3277129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31-01-2026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Pre-Final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1326201686"/>
              </p:ext>
            </p:extLst>
          </p:nvPr>
        </p:nvGraphicFramePr>
        <p:xfrm>
          <a:off x="1696134" y="3086002"/>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37270469"/>
                    </a:ext>
                  </a:extLst>
                </a:gridCol>
                <a:gridCol w="3048000">
                  <a:extLst>
                    <a:ext uri="{9D8B030D-6E8A-4147-A177-3AD203B41FA5}">
                      <a16:colId xmlns:a16="http://schemas.microsoft.com/office/drawing/2014/main" val="3305024946"/>
                    </a:ext>
                  </a:extLst>
                </a:gridCol>
              </a:tblGrid>
              <a:tr h="370840">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765898331"/>
                  </a:ext>
                </a:extLst>
              </a:tr>
              <a:tr h="370840">
                <a:tc>
                  <a:txBody>
                    <a:bodyPr/>
                    <a:lstStyle/>
                    <a:p>
                      <a:r>
                        <a:rPr lang="en-US" dirty="0"/>
                        <a:t>SEEMA KANWAR </a:t>
                      </a:r>
                    </a:p>
                  </a:txBody>
                  <a:tcPr/>
                </a:tc>
                <a:tc>
                  <a:txBody>
                    <a:bodyPr/>
                    <a:lstStyle/>
                    <a:p>
                      <a:r>
                        <a:rPr lang="en-US" dirty="0"/>
                        <a:t>2301410020</a:t>
                      </a:r>
                    </a:p>
                  </a:txBody>
                  <a:tcPr/>
                </a:tc>
                <a:extLst>
                  <a:ext uri="{0D108BD9-81ED-4DB2-BD59-A6C34878D82A}">
                    <a16:rowId xmlns:a16="http://schemas.microsoft.com/office/drawing/2014/main" val="4176101868"/>
                  </a:ext>
                </a:extLst>
              </a:tr>
              <a:tr h="370840">
                <a:tc>
                  <a:txBody>
                    <a:bodyPr/>
                    <a:lstStyle/>
                    <a:p>
                      <a:r>
                        <a:rPr lang="en-US" dirty="0"/>
                        <a:t>PAYAL RATHORE</a:t>
                      </a:r>
                    </a:p>
                  </a:txBody>
                  <a:tcPr/>
                </a:tc>
                <a:tc>
                  <a:txBody>
                    <a:bodyPr/>
                    <a:lstStyle/>
                    <a:p>
                      <a:r>
                        <a:rPr lang="en-US" dirty="0"/>
                        <a:t>2301410022</a:t>
                      </a:r>
                    </a:p>
                  </a:txBody>
                  <a:tcPr/>
                </a:tc>
                <a:extLst>
                  <a:ext uri="{0D108BD9-81ED-4DB2-BD59-A6C34878D82A}">
                    <a16:rowId xmlns:a16="http://schemas.microsoft.com/office/drawing/2014/main" val="1958206324"/>
                  </a:ext>
                </a:extLst>
              </a:tr>
              <a:tr h="370840">
                <a:tc>
                  <a:txBody>
                    <a:bodyPr/>
                    <a:lstStyle/>
                    <a:p>
                      <a:r>
                        <a:rPr lang="en-US" dirty="0"/>
                        <a:t>ERIN ANTIL</a:t>
                      </a:r>
                    </a:p>
                  </a:txBody>
                  <a:tcPr/>
                </a:tc>
                <a:tc>
                  <a:txBody>
                    <a:bodyPr/>
                    <a:lstStyle/>
                    <a:p>
                      <a:r>
                        <a:rPr lang="en-US" dirty="0"/>
                        <a:t>2301410011</a:t>
                      </a:r>
                    </a:p>
                  </a:txBody>
                  <a:tcPr/>
                </a:tc>
                <a:extLst>
                  <a:ext uri="{0D108BD9-81ED-4DB2-BD59-A6C34878D82A}">
                    <a16:rowId xmlns:a16="http://schemas.microsoft.com/office/drawing/2014/main" val="441949598"/>
                  </a:ext>
                </a:extLst>
              </a:tr>
              <a:tr h="370840">
                <a:tc>
                  <a:txBody>
                    <a:bodyPr/>
                    <a:lstStyle/>
                    <a:p>
                      <a:r>
                        <a:rPr lang="en-US" dirty="0"/>
                        <a:t>AYUSHI KUMARI</a:t>
                      </a:r>
                    </a:p>
                  </a:txBody>
                  <a:tcPr/>
                </a:tc>
                <a:tc>
                  <a:txBody>
                    <a:bodyPr/>
                    <a:lstStyle/>
                    <a:p>
                      <a:r>
                        <a:rPr lang="en-US" dirty="0"/>
                        <a:t>2301410035</a:t>
                      </a:r>
                    </a:p>
                  </a:txBody>
                  <a:tcPr/>
                </a:tc>
                <a:extLst>
                  <a:ext uri="{0D108BD9-81ED-4DB2-BD59-A6C34878D82A}">
                    <a16:rowId xmlns:a16="http://schemas.microsoft.com/office/drawing/2014/main" val="304337506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2299287" y="1212054"/>
            <a:ext cx="4659282" cy="707886"/>
          </a:xfrm>
          <a:prstGeom prst="rect">
            <a:avLst/>
          </a:prstGeom>
          <a:noFill/>
        </p:spPr>
        <p:txBody>
          <a:bodyPr wrap="square">
            <a:spAutoFit/>
          </a:bodyPr>
          <a:lstStyle/>
          <a:p>
            <a:pPr lvl="0" algn="ctr">
              <a:buSzPct val="25000"/>
            </a:pPr>
            <a:r>
              <a:rPr lang="en-US" sz="4000" b="1" dirty="0">
                <a:solidFill>
                  <a:srgbClr val="C00000"/>
                </a:solidFill>
                <a:ea typeface="Cambria" panose="02040503050406030204" pitchFamily="18" charset="0"/>
                <a:cs typeface="Times New Roman" panose="02020603050405020304" pitchFamily="18" charset="0"/>
                <a:sym typeface="Arial"/>
              </a:rPr>
              <a:t>E</a:t>
            </a:r>
            <a:r>
              <a:rPr lang="en-IN" sz="4000" b="1" dirty="0" err="1">
                <a:solidFill>
                  <a:srgbClr val="C00000"/>
                </a:solidFill>
                <a:ea typeface="Cambria" panose="02040503050406030204" pitchFamily="18" charset="0"/>
                <a:cs typeface="Times New Roman" panose="02020603050405020304" pitchFamily="18" charset="0"/>
                <a:sym typeface="Arial"/>
              </a:rPr>
              <a:t>duBench</a:t>
            </a:r>
            <a:endParaRPr lang="en-IN" sz="4000" b="1" dirty="0">
              <a:solidFill>
                <a:srgbClr val="C00000"/>
              </a:solidFill>
              <a:ea typeface="Cambria" panose="02040503050406030204" pitchFamily="18" charset="0"/>
              <a:cs typeface="Times New Roman" panose="02020603050405020304" pitchFamily="18" charset="0"/>
              <a:sym typeface="Arial"/>
            </a:endParaRP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369332"/>
          </a:xfrm>
          <a:prstGeom prst="rect">
            <a:avLst/>
          </a:prstGeom>
          <a:noFill/>
        </p:spPr>
        <p:txBody>
          <a:bodyPr wrap="square">
            <a:spAutoFit/>
          </a:bodyPr>
          <a:lstStyle/>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a:t>
            </a:r>
            <a:r>
              <a:rPr lang="en-IN" sz="1800" b="1" dirty="0">
                <a:solidFill>
                  <a:srgbClr val="0070C0"/>
                </a:solidFill>
                <a:ea typeface="Cambria" panose="02040503050406030204" pitchFamily="18" charset="0"/>
                <a:cs typeface="Times New Roman" panose="02020603050405020304" pitchFamily="18" charset="0"/>
                <a:sym typeface="Arial"/>
              </a:rPr>
              <a:t>  Ms. Neha Kaushik                                              Group code : 26E3242 </a:t>
            </a:r>
            <a:r>
              <a:rPr lang="en-IN" sz="1800" b="1" dirty="0" err="1">
                <a:solidFill>
                  <a:srgbClr val="0070C0"/>
                </a:solidFill>
                <a:ea typeface="Cambria" panose="02040503050406030204" pitchFamily="18" charset="0"/>
                <a:cs typeface="Times New Roman" panose="02020603050405020304" pitchFamily="18" charset="0"/>
                <a:sym typeface="Arial"/>
              </a:rPr>
              <a:t>NullX</a:t>
            </a:r>
            <a:endParaRPr lang="en-IN" sz="1800" b="1" dirty="0">
              <a:solidFill>
                <a:srgbClr val="0070C0"/>
              </a:solidFill>
              <a:ea typeface="Cambria" panose="020405030504060302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631379"/>
          </a:xfrm>
          <a:prstGeom prst="rect">
            <a:avLst/>
          </a:prstGeom>
          <a:noFill/>
        </p:spPr>
        <p:txBody>
          <a:bodyPr wrap="square">
            <a:spAutoFit/>
          </a:bodyPr>
          <a:lstStyle/>
          <a:p>
            <a:pPr algn="just" fontAlgn="base">
              <a:lnSpc>
                <a:spcPct val="107000"/>
              </a:lnSpc>
            </a:pPr>
            <a:r>
              <a:rPr lang="en-US" sz="2400" dirty="0"/>
              <a:t>Learning applications are widely used by children and students, yet their educational quality varies significantly. Many apps are labeled as "educational" without adhering to established learning theories or evidence-based instructional principles. This project proposes a standardized educational quality benchmark to objectively evaluate and compare learning apps based on Bloom’s Taxonomy and proven learning science principles. The benchmark aims to support educators, parents, institutions, and developers in identifying high-quality educational applications.</a:t>
            </a:r>
            <a:endParaRPr lang="en-US" sz="24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503040" y="3714722"/>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BBCF75ED-8E39-6937-287C-48B423B95BA4}"/>
              </a:ext>
            </a:extLst>
          </p:cNvPr>
          <p:cNvSpPr>
            <a:spLocks noChangeArrowheads="1"/>
          </p:cNvSpPr>
          <p:nvPr/>
        </p:nvSpPr>
        <p:spPr bwMode="auto">
          <a:xfrm>
            <a:off x="233772" y="1484784"/>
            <a:ext cx="867645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understand the need for standardization in evaluating learning       apps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identify key educational quality indicators based on learning theories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apply Bloom’s Taxonomy to define measurable evaluation criteria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design a scoring rubric for objective app comparison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analyze and compare the educational quality of selected learning apps</a:t>
            </a:r>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955DD0A-2801-39C3-E03B-3A375B93EF67}"/>
              </a:ext>
            </a:extLst>
          </p:cNvPr>
          <p:cNvSpPr>
            <a:spLocks noChangeArrowheads="1"/>
          </p:cNvSpPr>
          <p:nvPr/>
        </p:nvSpPr>
        <p:spPr bwMode="auto">
          <a:xfrm>
            <a:off x="179512" y="1599354"/>
            <a:ext cx="849694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Theory-driven evaluation framework</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Bloom’s Taxonomy–based learning level assessment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Evidence-based learning indicators (feedback, engagement, assessment)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Quantitative scoring rubric for comparison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Simple and reusable benchmark model</a:t>
            </a:r>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980000"/>
          </a:xfrm>
          <a:prstGeom prst="rect">
            <a:avLst/>
          </a:prstGeom>
          <a:noFill/>
        </p:spPr>
        <p:txBody>
          <a:bodyPr wrap="square">
            <a:spAutoFit/>
          </a:bodyPr>
          <a:lstStyle/>
          <a:p>
            <a:r>
              <a:rPr lang="en-US" sz="2800" b="1" dirty="0"/>
              <a:t>Use Cases:</a:t>
            </a:r>
            <a:endParaRPr lang="en-US" sz="2800" dirty="0"/>
          </a:p>
          <a:p>
            <a:pPr marL="457200" indent="-457200">
              <a:buFont typeface="Arial" panose="020B0604020202020204" pitchFamily="34" charset="0"/>
              <a:buChar char="•"/>
            </a:pPr>
            <a:r>
              <a:rPr lang="en-US" sz="2400" dirty="0"/>
              <a:t>Parents selecting quality learning apps for children</a:t>
            </a:r>
          </a:p>
          <a:p>
            <a:pPr marL="457200" indent="-457200">
              <a:buFont typeface="Arial" panose="020B0604020202020204" pitchFamily="34" charset="0"/>
              <a:buChar char="•"/>
            </a:pPr>
            <a:r>
              <a:rPr lang="en-US" sz="2400" dirty="0"/>
              <a:t>Educators integrating apps into teaching</a:t>
            </a:r>
          </a:p>
          <a:p>
            <a:pPr marL="457200" indent="-457200">
              <a:buFont typeface="Arial" panose="020B0604020202020204" pitchFamily="34" charset="0"/>
              <a:buChar char="•"/>
            </a:pPr>
            <a:r>
              <a:rPr lang="en-US" sz="2400" dirty="0"/>
              <a:t>Institutions reviewing digital learning tools</a:t>
            </a:r>
          </a:p>
          <a:p>
            <a:pPr marL="457200" indent="-457200">
              <a:buFont typeface="Arial" panose="020B0604020202020204" pitchFamily="34" charset="0"/>
              <a:buChar char="•"/>
            </a:pPr>
            <a:r>
              <a:rPr lang="en-US" sz="2400" dirty="0"/>
              <a:t>Developers improving educational effectiveness</a:t>
            </a:r>
          </a:p>
          <a:p>
            <a:r>
              <a:rPr lang="en-US" sz="2800" b="1" dirty="0"/>
              <a:t>Scope:</a:t>
            </a:r>
            <a:endParaRPr lang="en-US" sz="2800" dirty="0"/>
          </a:p>
          <a:p>
            <a:pPr marL="457200" indent="-457200">
              <a:buFont typeface="Arial" panose="020B0604020202020204" pitchFamily="34" charset="0"/>
              <a:buChar char="•"/>
            </a:pPr>
            <a:r>
              <a:rPr lang="en-US" sz="2400" dirty="0"/>
              <a:t>Focus on children’s and student learning apps</a:t>
            </a:r>
          </a:p>
          <a:p>
            <a:pPr marL="457200" indent="-457200">
              <a:buFont typeface="Arial" panose="020B0604020202020204" pitchFamily="34" charset="0"/>
              <a:buChar char="•"/>
            </a:pPr>
            <a:r>
              <a:rPr lang="en-US" sz="2400" dirty="0"/>
              <a:t>Evaluation limited to educational quality (not UI or marketing)</a:t>
            </a:r>
          </a:p>
          <a:p>
            <a:pPr marL="457200" indent="-457200">
              <a:buFont typeface="Arial" panose="020B0604020202020204" pitchFamily="34" charset="0"/>
              <a:buChar char="•"/>
            </a:pPr>
            <a:r>
              <a:rPr lang="en-US" sz="2400" dirty="0"/>
              <a:t>Benchmark applicable across multiple app categories</a:t>
            </a: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5812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54097"/>
            <a:ext cx="9180512" cy="6885384"/>
          </a:xfrm>
        </p:spPr>
      </p:pic>
      <p:sp>
        <p:nvSpPr>
          <p:cNvPr id="5" name="Rectangle 1"/>
          <p:cNvSpPr>
            <a:spLocks noChangeArrowheads="1"/>
          </p:cNvSpPr>
          <p:nvPr/>
        </p:nvSpPr>
        <p:spPr bwMode="auto">
          <a:xfrm>
            <a:off x="98037" y="26713"/>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577C393B-BA8A-347B-AC1D-50867A12A363}"/>
              </a:ext>
            </a:extLst>
          </p:cNvPr>
          <p:cNvPicPr>
            <a:picLocks noChangeAspect="1"/>
          </p:cNvPicPr>
          <p:nvPr/>
        </p:nvPicPr>
        <p:blipFill>
          <a:blip r:embed="rId5"/>
          <a:srcRect t="2283" r="985" b="16584"/>
          <a:stretch>
            <a:fillRect/>
          </a:stretch>
        </p:blipFill>
        <p:spPr>
          <a:xfrm>
            <a:off x="1763688" y="1372734"/>
            <a:ext cx="4824536" cy="4779476"/>
          </a:xfrm>
          <a:prstGeom prst="rect">
            <a:avLst/>
          </a:prstGeom>
        </p:spPr>
      </p:pic>
    </p:spTree>
    <p:extLst>
      <p:ext uri="{BB962C8B-B14F-4D97-AF65-F5344CB8AC3E}">
        <p14:creationId xmlns:p14="http://schemas.microsoft.com/office/powerpoint/2010/main" val="209337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
            <a:ext cx="9180513" cy="6885385"/>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B816C24-0015-A47A-B91A-2D2D130D8F0C}"/>
              </a:ext>
            </a:extLst>
          </p:cNvPr>
          <p:cNvSpPr>
            <a:spLocks noChangeArrowheads="1"/>
          </p:cNvSpPr>
          <p:nvPr/>
        </p:nvSpPr>
        <p:spPr bwMode="auto">
          <a:xfrm>
            <a:off x="72008" y="1331726"/>
            <a:ext cx="8532440"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App descriptions, feature lists, and usage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Learning apps from Google Play Store / App Store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Bloom’s Taxonomy framework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Evidence-based learning research papers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rPr>
              <a:t>Tools: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Python (for scoring &amp; analysis) / MIT App Inventor 2 (for prototype)</a:t>
            </a:r>
          </a:p>
        </p:txBody>
      </p:sp>
    </p:spTree>
    <p:extLst>
      <p:ext uri="{BB962C8B-B14F-4D97-AF65-F5344CB8AC3E}">
        <p14:creationId xmlns:p14="http://schemas.microsoft.com/office/powerpoint/2010/main" val="3449068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2" name="Rectangle 5">
            <a:extLst>
              <a:ext uri="{FF2B5EF4-FFF2-40B4-BE49-F238E27FC236}">
                <a16:creationId xmlns:a16="http://schemas.microsoft.com/office/drawing/2014/main" id="{86ADBA4B-241C-AC19-1578-6E6FEBF0A300}"/>
              </a:ext>
            </a:extLst>
          </p:cNvPr>
          <p:cNvSpPr>
            <a:spLocks noChangeArrowheads="1"/>
          </p:cNvSpPr>
          <p:nvPr/>
        </p:nvSpPr>
        <p:spPr bwMode="auto">
          <a:xfrm>
            <a:off x="0" y="85158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Content Placeholder 13">
            <a:extLst>
              <a:ext uri="{FF2B5EF4-FFF2-40B4-BE49-F238E27FC236}">
                <a16:creationId xmlns:a16="http://schemas.microsoft.com/office/drawing/2014/main" id="{B21636EE-39EC-8221-30FA-29E764C0D0BC}"/>
              </a:ext>
            </a:extLst>
          </p:cNvPr>
          <p:cNvSpPr>
            <a:spLocks noGrp="1"/>
          </p:cNvSpPr>
          <p:nvPr>
            <p:ph idx="1"/>
          </p:nvPr>
        </p:nvSpPr>
        <p:spPr>
          <a:xfrm>
            <a:off x="199422" y="1454029"/>
            <a:ext cx="8229600" cy="4525963"/>
          </a:xfrm>
        </p:spPr>
        <p:txBody>
          <a:bodyPr>
            <a:normAutofit fontScale="62500" lnSpcReduction="20000"/>
          </a:bodyPr>
          <a:lstStyle/>
          <a:p>
            <a:pPr marL="0" lvl="0" indent="0" eaLnBrk="0" fontAlgn="base" hangingPunct="0">
              <a:spcBef>
                <a:spcPct val="0"/>
              </a:spcBef>
              <a:spcAft>
                <a:spcPct val="0"/>
              </a:spcAft>
              <a:buNone/>
            </a:pPr>
            <a:r>
              <a:rPr lang="en-US" altLang="en-US" dirty="0"/>
              <a:t>The project follows a structured approach to evaluate the educational quality of learning apps using a standardized benchmark.</a:t>
            </a:r>
          </a:p>
          <a:p>
            <a:pPr marL="0" lvl="0" indent="0" eaLnBrk="0" fontAlgn="base" hangingPunct="0">
              <a:spcBef>
                <a:spcPct val="0"/>
              </a:spcBef>
              <a:spcAft>
                <a:spcPct val="0"/>
              </a:spcAft>
              <a:buNone/>
            </a:pPr>
            <a:endParaRPr lang="en-US" altLang="en-US" dirty="0"/>
          </a:p>
          <a:p>
            <a:pPr marL="0" lvl="0" indent="0" eaLnBrk="0" fontAlgn="base" hangingPunct="0">
              <a:spcBef>
                <a:spcPct val="0"/>
              </a:spcBef>
              <a:spcAft>
                <a:spcPct val="0"/>
              </a:spcAft>
              <a:buNone/>
            </a:pPr>
            <a:r>
              <a:rPr lang="en-US" altLang="en-US" dirty="0"/>
              <a:t>First, existing learning app evaluation methods and learning theories such as Bloom’s Taxonomy were studied to understand key educational quality requirements. Based on this study, important learning indicators like cognitive level coverage, active learning, feedback, and assessment were identified.</a:t>
            </a:r>
          </a:p>
          <a:p>
            <a:pPr marL="0" lvl="0" indent="0" eaLnBrk="0" fontAlgn="base" hangingPunct="0">
              <a:spcBef>
                <a:spcPct val="0"/>
              </a:spcBef>
              <a:spcAft>
                <a:spcPct val="0"/>
              </a:spcAft>
              <a:buNone/>
            </a:pPr>
            <a:r>
              <a:rPr lang="en-US" altLang="en-US" dirty="0"/>
              <a:t>Next, a benchmark framework was designed by mapping app features to Bloom’s Taxonomy levels and evidence-based learning principles. A standardized scoring rubric was then created to assign numerical scores to each criterion.</a:t>
            </a:r>
          </a:p>
          <a:p>
            <a:pPr marL="0" lvl="0" indent="0" eaLnBrk="0" fontAlgn="base" hangingPunct="0">
              <a:spcBef>
                <a:spcPct val="0"/>
              </a:spcBef>
              <a:spcAft>
                <a:spcPct val="0"/>
              </a:spcAft>
              <a:buNone/>
            </a:pPr>
            <a:r>
              <a:rPr lang="en-US" altLang="en-US" dirty="0"/>
              <a:t>Selected learning apps were evaluated using this rubric. Python was used to calculate total scores and compare apps objectively. Finally, the results were analyzed and presented as quality scores and comparison reports.</a:t>
            </a:r>
          </a:p>
          <a:p>
            <a:pPr marL="0" lvl="0" indent="0" eaLnBrk="0" fontAlgn="base" hangingPunct="0">
              <a:spcBef>
                <a:spcPct val="0"/>
              </a:spcBef>
              <a:spcAft>
                <a:spcPct val="0"/>
              </a:spcAft>
              <a:buNone/>
            </a:pPr>
            <a:br>
              <a:rPr lang="en-US" altLang="en-US" dirty="0"/>
            </a:br>
            <a:r>
              <a:rPr lang="en-US" altLang="en-US" dirty="0"/>
              <a:t>Learning Apps → Feature Extraction → Benchmark Framework → Scoring &amp; Rubric → Analysis → Final Quality Report</a:t>
            </a:r>
          </a:p>
          <a:p>
            <a:pPr marL="0" indent="0">
              <a:buNone/>
            </a:pPr>
            <a:endParaRPr lang="en-IN" dirty="0"/>
          </a:p>
        </p:txBody>
      </p:sp>
    </p:spTree>
    <p:extLst>
      <p:ext uri="{BB962C8B-B14F-4D97-AF65-F5344CB8AC3E}">
        <p14:creationId xmlns:p14="http://schemas.microsoft.com/office/powerpoint/2010/main" val="1099878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B50B1FD-5418-0882-D363-1C8C42AD4078}"/>
              </a:ext>
            </a:extLst>
          </p:cNvPr>
          <p:cNvSpPr>
            <a:spLocks noChangeArrowheads="1"/>
          </p:cNvSpPr>
          <p:nvPr/>
        </p:nvSpPr>
        <p:spPr bwMode="auto">
          <a:xfrm>
            <a:off x="199936" y="1293834"/>
            <a:ext cx="82089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The project is expected to produce a standardized and reliable benchmark for evaluating the educational quality of learning apps. The benchmark will provide objective quality scores based on Bloom’s Taxonomy and evidence-based learning principles.</a:t>
            </a:r>
          </a:p>
          <a:p>
            <a:r>
              <a:rPr lang="en-US" sz="2400" dirty="0"/>
              <a:t>Using this framework, different learning apps can be compared clearly, helping identify high-quality apps and highlighting areas where apps lack meaningful learning support. The results will make it easier for parents and educators to select effective learning applications.</a:t>
            </a:r>
          </a:p>
          <a:p>
            <a:r>
              <a:rPr lang="en-US" sz="2400" dirty="0"/>
              <a:t>The project will also guide app developers in improving educational design and support institutions in making informed decisions when adopting digital learning tools.</a:t>
            </a:r>
          </a:p>
        </p:txBody>
      </p:sp>
    </p:spTree>
    <p:extLst>
      <p:ext uri="{BB962C8B-B14F-4D97-AF65-F5344CB8AC3E}">
        <p14:creationId xmlns:p14="http://schemas.microsoft.com/office/powerpoint/2010/main" val="25626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graphicFrame>
        <p:nvGraphicFramePr>
          <p:cNvPr id="20" name="Table 19">
            <a:extLst>
              <a:ext uri="{FF2B5EF4-FFF2-40B4-BE49-F238E27FC236}">
                <a16:creationId xmlns:a16="http://schemas.microsoft.com/office/drawing/2014/main" id="{98387CA7-B171-50D0-4C67-35D0315B117C}"/>
              </a:ext>
            </a:extLst>
          </p:cNvPr>
          <p:cNvGraphicFramePr>
            <a:graphicFrameLocks noGrp="1"/>
          </p:cNvGraphicFramePr>
          <p:nvPr>
            <p:extLst>
              <p:ext uri="{D42A27DB-BD31-4B8C-83A1-F6EECF244321}">
                <p14:modId xmlns:p14="http://schemas.microsoft.com/office/powerpoint/2010/main" val="488546999"/>
              </p:ext>
            </p:extLst>
          </p:nvPr>
        </p:nvGraphicFramePr>
        <p:xfrm>
          <a:off x="395536" y="1724603"/>
          <a:ext cx="8229600" cy="3566160"/>
        </p:xfrm>
        <a:graphic>
          <a:graphicData uri="http://schemas.openxmlformats.org/drawingml/2006/table">
            <a:tbl>
              <a:tblPr>
                <a:tableStyleId>{69CF1AB2-1976-4502-BF36-3FF5EA218861}</a:tableStyleId>
              </a:tblPr>
              <a:tblGrid>
                <a:gridCol w="2743200">
                  <a:extLst>
                    <a:ext uri="{9D8B030D-6E8A-4147-A177-3AD203B41FA5}">
                      <a16:colId xmlns:a16="http://schemas.microsoft.com/office/drawing/2014/main" val="3195917805"/>
                    </a:ext>
                  </a:extLst>
                </a:gridCol>
                <a:gridCol w="2743200">
                  <a:extLst>
                    <a:ext uri="{9D8B030D-6E8A-4147-A177-3AD203B41FA5}">
                      <a16:colId xmlns:a16="http://schemas.microsoft.com/office/drawing/2014/main" val="1064099237"/>
                    </a:ext>
                  </a:extLst>
                </a:gridCol>
                <a:gridCol w="2743200">
                  <a:extLst>
                    <a:ext uri="{9D8B030D-6E8A-4147-A177-3AD203B41FA5}">
                      <a16:colId xmlns:a16="http://schemas.microsoft.com/office/drawing/2014/main" val="1180194465"/>
                    </a:ext>
                  </a:extLst>
                </a:gridCol>
              </a:tblGrid>
              <a:tr h="0">
                <a:tc>
                  <a:txBody>
                    <a:bodyPr/>
                    <a:lstStyle/>
                    <a:p>
                      <a:pPr>
                        <a:buNone/>
                      </a:pPr>
                      <a:r>
                        <a:rPr lang="en-IN"/>
                        <a:t>Phase No.</a:t>
                      </a:r>
                    </a:p>
                  </a:txBody>
                  <a:tcPr anchor="ctr"/>
                </a:tc>
                <a:tc>
                  <a:txBody>
                    <a:bodyPr/>
                    <a:lstStyle/>
                    <a:p>
                      <a:pPr>
                        <a:buNone/>
                      </a:pPr>
                      <a:r>
                        <a:rPr lang="en-IN"/>
                        <a:t>Project Phase</a:t>
                      </a:r>
                    </a:p>
                  </a:txBody>
                  <a:tcPr anchor="ctr"/>
                </a:tc>
                <a:tc>
                  <a:txBody>
                    <a:bodyPr/>
                    <a:lstStyle/>
                    <a:p>
                      <a:pPr>
                        <a:buNone/>
                      </a:pPr>
                      <a:r>
                        <a:rPr lang="en-IN"/>
                        <a:t>Duration</a:t>
                      </a:r>
                    </a:p>
                  </a:txBody>
                  <a:tcPr anchor="ctr"/>
                </a:tc>
                <a:extLst>
                  <a:ext uri="{0D108BD9-81ED-4DB2-BD59-A6C34878D82A}">
                    <a16:rowId xmlns:a16="http://schemas.microsoft.com/office/drawing/2014/main" val="3587309002"/>
                  </a:ext>
                </a:extLst>
              </a:tr>
              <a:tr h="0">
                <a:tc>
                  <a:txBody>
                    <a:bodyPr/>
                    <a:lstStyle/>
                    <a:p>
                      <a:pPr>
                        <a:buNone/>
                      </a:pPr>
                      <a:r>
                        <a:rPr lang="en-IN"/>
                        <a:t>Phase 1</a:t>
                      </a:r>
                    </a:p>
                  </a:txBody>
                  <a:tcPr anchor="ctr"/>
                </a:tc>
                <a:tc>
                  <a:txBody>
                    <a:bodyPr/>
                    <a:lstStyle/>
                    <a:p>
                      <a:pPr>
                        <a:buNone/>
                      </a:pPr>
                      <a:r>
                        <a:rPr lang="en-IN"/>
                        <a:t>Problem Study &amp; Literature Review</a:t>
                      </a:r>
                    </a:p>
                  </a:txBody>
                  <a:tcPr anchor="ctr"/>
                </a:tc>
                <a:tc>
                  <a:txBody>
                    <a:bodyPr/>
                    <a:lstStyle/>
                    <a:p>
                      <a:pPr>
                        <a:buNone/>
                      </a:pPr>
                      <a:r>
                        <a:rPr lang="en-IN"/>
                        <a:t>Weeks 1 – 2</a:t>
                      </a:r>
                    </a:p>
                  </a:txBody>
                  <a:tcPr anchor="ctr"/>
                </a:tc>
                <a:extLst>
                  <a:ext uri="{0D108BD9-81ED-4DB2-BD59-A6C34878D82A}">
                    <a16:rowId xmlns:a16="http://schemas.microsoft.com/office/drawing/2014/main" val="2942155485"/>
                  </a:ext>
                </a:extLst>
              </a:tr>
              <a:tr h="0">
                <a:tc>
                  <a:txBody>
                    <a:bodyPr/>
                    <a:lstStyle/>
                    <a:p>
                      <a:pPr>
                        <a:buNone/>
                      </a:pPr>
                      <a:r>
                        <a:rPr lang="en-IN"/>
                        <a:t>Phase 2</a:t>
                      </a:r>
                    </a:p>
                  </a:txBody>
                  <a:tcPr anchor="ctr"/>
                </a:tc>
                <a:tc>
                  <a:txBody>
                    <a:bodyPr/>
                    <a:lstStyle/>
                    <a:p>
                      <a:pPr>
                        <a:buNone/>
                      </a:pPr>
                      <a:r>
                        <a:rPr lang="en-IN"/>
                        <a:t>Benchmark Design &amp; Criteria Definition</a:t>
                      </a:r>
                    </a:p>
                  </a:txBody>
                  <a:tcPr anchor="ctr"/>
                </a:tc>
                <a:tc>
                  <a:txBody>
                    <a:bodyPr/>
                    <a:lstStyle/>
                    <a:p>
                      <a:pPr>
                        <a:buNone/>
                      </a:pPr>
                      <a:r>
                        <a:rPr lang="en-IN"/>
                        <a:t>Weeks 3 – 4</a:t>
                      </a:r>
                    </a:p>
                  </a:txBody>
                  <a:tcPr anchor="ctr"/>
                </a:tc>
                <a:extLst>
                  <a:ext uri="{0D108BD9-81ED-4DB2-BD59-A6C34878D82A}">
                    <a16:rowId xmlns:a16="http://schemas.microsoft.com/office/drawing/2014/main" val="1937974183"/>
                  </a:ext>
                </a:extLst>
              </a:tr>
              <a:tr h="0">
                <a:tc>
                  <a:txBody>
                    <a:bodyPr/>
                    <a:lstStyle/>
                    <a:p>
                      <a:pPr>
                        <a:buNone/>
                      </a:pPr>
                      <a:r>
                        <a:rPr lang="en-IN"/>
                        <a:t>Phase 3</a:t>
                      </a:r>
                    </a:p>
                  </a:txBody>
                  <a:tcPr anchor="ctr"/>
                </a:tc>
                <a:tc>
                  <a:txBody>
                    <a:bodyPr/>
                    <a:lstStyle/>
                    <a:p>
                      <a:pPr>
                        <a:buNone/>
                      </a:pPr>
                      <a:r>
                        <a:rPr lang="en-IN"/>
                        <a:t>Scoring Rubric Development</a:t>
                      </a:r>
                    </a:p>
                  </a:txBody>
                  <a:tcPr anchor="ctr"/>
                </a:tc>
                <a:tc>
                  <a:txBody>
                    <a:bodyPr/>
                    <a:lstStyle/>
                    <a:p>
                      <a:pPr>
                        <a:buNone/>
                      </a:pPr>
                      <a:r>
                        <a:rPr lang="en-IN"/>
                        <a:t>Weeks 5 – 6</a:t>
                      </a:r>
                    </a:p>
                  </a:txBody>
                  <a:tcPr anchor="ctr"/>
                </a:tc>
                <a:extLst>
                  <a:ext uri="{0D108BD9-81ED-4DB2-BD59-A6C34878D82A}">
                    <a16:rowId xmlns:a16="http://schemas.microsoft.com/office/drawing/2014/main" val="2513371335"/>
                  </a:ext>
                </a:extLst>
              </a:tr>
              <a:tr h="0">
                <a:tc>
                  <a:txBody>
                    <a:bodyPr/>
                    <a:lstStyle/>
                    <a:p>
                      <a:pPr>
                        <a:buNone/>
                      </a:pPr>
                      <a:r>
                        <a:rPr lang="en-IN"/>
                        <a:t>Phase 4</a:t>
                      </a:r>
                    </a:p>
                  </a:txBody>
                  <a:tcPr anchor="ctr"/>
                </a:tc>
                <a:tc>
                  <a:txBody>
                    <a:bodyPr/>
                    <a:lstStyle/>
                    <a:p>
                      <a:pPr>
                        <a:buNone/>
                      </a:pPr>
                      <a:r>
                        <a:rPr lang="en-IN"/>
                        <a:t>Learning App Evaluation &amp; Analysis</a:t>
                      </a:r>
                    </a:p>
                  </a:txBody>
                  <a:tcPr anchor="ctr"/>
                </a:tc>
                <a:tc>
                  <a:txBody>
                    <a:bodyPr/>
                    <a:lstStyle/>
                    <a:p>
                      <a:pPr>
                        <a:buNone/>
                      </a:pPr>
                      <a:r>
                        <a:rPr lang="en-IN"/>
                        <a:t>Weeks 7 – 8</a:t>
                      </a:r>
                    </a:p>
                  </a:txBody>
                  <a:tcPr anchor="ctr"/>
                </a:tc>
                <a:extLst>
                  <a:ext uri="{0D108BD9-81ED-4DB2-BD59-A6C34878D82A}">
                    <a16:rowId xmlns:a16="http://schemas.microsoft.com/office/drawing/2014/main" val="2664838509"/>
                  </a:ext>
                </a:extLst>
              </a:tr>
              <a:tr h="0">
                <a:tc>
                  <a:txBody>
                    <a:bodyPr/>
                    <a:lstStyle/>
                    <a:p>
                      <a:pPr>
                        <a:buNone/>
                      </a:pPr>
                      <a:r>
                        <a:rPr lang="en-IN"/>
                        <a:t>Phase 5</a:t>
                      </a:r>
                    </a:p>
                  </a:txBody>
                  <a:tcPr anchor="ctr"/>
                </a:tc>
                <a:tc>
                  <a:txBody>
                    <a:bodyPr/>
                    <a:lstStyle/>
                    <a:p>
                      <a:pPr>
                        <a:buNone/>
                      </a:pPr>
                      <a:r>
                        <a:rPr lang="en-IN"/>
                        <a:t>Results, Documentation &amp; Presentation</a:t>
                      </a:r>
                    </a:p>
                  </a:txBody>
                  <a:tcPr anchor="ctr"/>
                </a:tc>
                <a:tc>
                  <a:txBody>
                    <a:bodyPr/>
                    <a:lstStyle/>
                    <a:p>
                      <a:pPr>
                        <a:buNone/>
                      </a:pPr>
                      <a:r>
                        <a:rPr lang="en-IN" dirty="0"/>
                        <a:t>Weeks 9 – 10</a:t>
                      </a:r>
                    </a:p>
                  </a:txBody>
                  <a:tcPr anchor="ctr"/>
                </a:tc>
                <a:extLst>
                  <a:ext uri="{0D108BD9-81ED-4DB2-BD59-A6C34878D82A}">
                    <a16:rowId xmlns:a16="http://schemas.microsoft.com/office/drawing/2014/main" val="888003234"/>
                  </a:ext>
                </a:extLst>
              </a:tr>
            </a:tbl>
          </a:graphicData>
        </a:graphic>
      </p:graphicFrame>
    </p:spTree>
    <p:extLst>
      <p:ext uri="{BB962C8B-B14F-4D97-AF65-F5344CB8AC3E}">
        <p14:creationId xmlns:p14="http://schemas.microsoft.com/office/powerpoint/2010/main" val="3449508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6099</TotalTime>
  <Words>702</Words>
  <Application>Microsoft Office PowerPoint</Application>
  <PresentationFormat>On-screen Show (4:3)</PresentationFormat>
  <Paragraphs>108</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Cambria</vt:lpstr>
      <vt:lpstr>Garamond</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Seema Shekhawat</cp:lastModifiedBy>
  <cp:revision>309</cp:revision>
  <cp:lastPrinted>2022-09-05T08:43:44Z</cp:lastPrinted>
  <dcterms:created xsi:type="dcterms:W3CDTF">2020-01-16T09:05:56Z</dcterms:created>
  <dcterms:modified xsi:type="dcterms:W3CDTF">2026-01-31T06:21:35Z</dcterms:modified>
</cp:coreProperties>
</file>